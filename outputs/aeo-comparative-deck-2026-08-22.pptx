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fc3228bc5b46a5" /><Relationship Type="http://schemas.openxmlformats.org/officeDocument/2006/relationships/extended-properties" Target="/docProps/app.xml" Id="Re92e25e5a68546d2" /><Relationship Type="http://schemas.openxmlformats.org/officeDocument/2006/relationships/officeDocument" Target="/ppt/presentation.xml" Id="Rb5fb8f0510d947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8bb1c4d14541f7"/>
  </p:sldMasterIdLst>
  <p:notesMasterIdLst>
    <p:notesMasterId xmlns:r="http://schemas.openxmlformats.org/officeDocument/2006/relationships" r:id="Rae5afb118eb14837"/>
  </p:notesMasterIdLst>
  <p:sldIdLst>
    <p:sldId xmlns:r="http://schemas.openxmlformats.org/officeDocument/2006/relationships" id="256" r:id="Rb75b17bfe199455c"/>
    <p:sldId xmlns:r="http://schemas.openxmlformats.org/officeDocument/2006/relationships" id="257" r:id="R891ee50580964f74"/>
    <p:sldId xmlns:r="http://schemas.openxmlformats.org/officeDocument/2006/relationships" id="258" r:id="Re8b43499e4fa4793"/>
    <p:sldId xmlns:r="http://schemas.openxmlformats.org/officeDocument/2006/relationships" id="259" r:id="R85686746b3ce458a"/>
    <p:sldId xmlns:r="http://schemas.openxmlformats.org/officeDocument/2006/relationships" id="260" r:id="R2267ed339f194d3b"/>
    <p:sldId xmlns:r="http://schemas.openxmlformats.org/officeDocument/2006/relationships" id="261" r:id="R5a1be5a034a64f3a"/>
    <p:sldId xmlns:r="http://schemas.openxmlformats.org/officeDocument/2006/relationships" id="262" r:id="Re38b0b4cab574833"/>
    <p:sldId xmlns:r="http://schemas.openxmlformats.org/officeDocument/2006/relationships" id="263" r:id="Ra76201f65aa74fb1"/>
    <p:sldId xmlns:r="http://schemas.openxmlformats.org/officeDocument/2006/relationships" id="264" r:id="Rf757392176d24be5"/>
    <p:sldId xmlns:r="http://schemas.openxmlformats.org/officeDocument/2006/relationships" id="265" r:id="R12a1599da71745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2d981838c245d2" /><Relationship Type="http://schemas.openxmlformats.org/officeDocument/2006/relationships/slideMaster" Target="/ppt/slideMasters/slideMaster1.xml" Id="R1d8bb1c4d14541f7" /><Relationship Type="http://schemas.openxmlformats.org/officeDocument/2006/relationships/notesMaster" Target="/ppt/notesMasters/notesMaster1.xml" Id="Rae5afb118eb14837" /><Relationship Type="http://schemas.openxmlformats.org/officeDocument/2006/relationships/presProps" Target="/ppt/presProps.xml" Id="R25681044a3c54e53" /><Relationship Type="http://schemas.openxmlformats.org/officeDocument/2006/relationships/tableStyles" Target="/ppt/tableStyles.xml" Id="Rc5f8b2c0b47a46ee" /><Relationship Type="http://schemas.openxmlformats.org/officeDocument/2006/relationships/slide" Target="/ppt/slides/slide1.xml" Id="Rb75b17bfe199455c" /><Relationship Type="http://schemas.openxmlformats.org/officeDocument/2006/relationships/slide" Target="/ppt/slides/slide2.xml" Id="R891ee50580964f74" /><Relationship Type="http://schemas.openxmlformats.org/officeDocument/2006/relationships/slide" Target="/ppt/slides/slide3.xml" Id="Re8b43499e4fa4793" /><Relationship Type="http://schemas.openxmlformats.org/officeDocument/2006/relationships/slide" Target="/ppt/slides/slide4.xml" Id="R85686746b3ce458a" /><Relationship Type="http://schemas.openxmlformats.org/officeDocument/2006/relationships/slide" Target="/ppt/slides/slide5.xml" Id="R2267ed339f194d3b" /><Relationship Type="http://schemas.openxmlformats.org/officeDocument/2006/relationships/slide" Target="/ppt/slides/slide6.xml" Id="R5a1be5a034a64f3a" /><Relationship Type="http://schemas.openxmlformats.org/officeDocument/2006/relationships/slide" Target="/ppt/slides/slide7.xml" Id="Re38b0b4cab574833" /><Relationship Type="http://schemas.openxmlformats.org/officeDocument/2006/relationships/slide" Target="/ppt/slides/slide8.xml" Id="Ra76201f65aa74fb1" /><Relationship Type="http://schemas.openxmlformats.org/officeDocument/2006/relationships/slide" Target="/ppt/slides/slide9.xml" Id="Rf757392176d24be5" /><Relationship Type="http://schemas.openxmlformats.org/officeDocument/2006/relationships/slide" Target="/ppt/slides/slide10.xml" Id="R12a1599da71745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413e5658a14c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a2c0d0ec0f4c3c" /><Relationship Type="http://schemas.openxmlformats.org/officeDocument/2006/relationships/notesMaster" Target="/ppt/notesMasters/notesMaster1.xml" Id="Rde4812b66f0a4a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39678082e84c8f" /><Relationship Type="http://schemas.openxmlformats.org/officeDocument/2006/relationships/notesMaster" Target="/ppt/notesMasters/notesMaster1.xml" Id="R42abf6010c444f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e59ec90bd74dc5" /><Relationship Type="http://schemas.openxmlformats.org/officeDocument/2006/relationships/notesMaster" Target="/ppt/notesMasters/notesMaster1.xml" Id="Rda320e753cac45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16829956f34f15" /><Relationship Type="http://schemas.openxmlformats.org/officeDocument/2006/relationships/notesMaster" Target="/ppt/notesMasters/notesMaster1.xml" Id="R09b1192689754f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65086afd514a12" /><Relationship Type="http://schemas.openxmlformats.org/officeDocument/2006/relationships/notesMaster" Target="/ppt/notesMasters/notesMaster1.xml" Id="R3d379b73be3943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ac6c52ff444021" /><Relationship Type="http://schemas.openxmlformats.org/officeDocument/2006/relationships/notesMaster" Target="/ppt/notesMasters/notesMaster1.xml" Id="Rbabb92a5c7e346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32098ec6284855" /><Relationship Type="http://schemas.openxmlformats.org/officeDocument/2006/relationships/notesMaster" Target="/ppt/notesMasters/notesMaster1.xml" Id="Rcc08f935f5ce4c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c47772038943ac" /><Relationship Type="http://schemas.openxmlformats.org/officeDocument/2006/relationships/notesMaster" Target="/ppt/notesMasters/notesMaster1.xml" Id="R7f22e17b4c5942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6ca13df2084e9a" /><Relationship Type="http://schemas.openxmlformats.org/officeDocument/2006/relationships/notesMaster" Target="/ppt/notesMasters/notesMaster1.xml" Id="R4b978bfca7a54b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a9975d67d74f8c" /><Relationship Type="http://schemas.openxmlformats.org/officeDocument/2006/relationships/notesMaster" Target="/ppt/notesMasters/notesMaster1.xml" Id="R0f41dd72045e46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https://data.worldbank.org/</a:t>
            </a:r>
          </a:p>
          <a:p xmlns:a="http://schemas.openxmlformats.org/drawingml/2006/main">
            <a:r>
              <a:t>https://data.who.int/</a:t>
            </a:r>
          </a:p>
          <a:p xmlns:a="http://schemas.openxmlformats.org/drawingml/2006/main">
            <a:r>
              <a:t>https://www.statista.com/</a:t>
            </a:r>
          </a:p>
          <a:p xmlns:a="http://schemas.openxmlformats.org/drawingml/2006/main">
            <a:r>
              <a:t>https://statistics.cepal.org/portal/cepalstat/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outputs/aeo-comparative-matrix-2026-08-22.csv</a:t>
            </a:r>
          </a:p>
          <a:p xmlns:a="http://schemas.openxmlformats.org/drawingml/2006/main">
            <a:r>
              <a:t>outputs/aeo-comparative-report-2026-08-22.md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outputs/aeo-comparative-matrix-2026-08-22.csv</a:t>
            </a:r>
          </a:p>
          <a:p xmlns:a="http://schemas.openxmlformats.org/drawingml/2006/main">
            <a:r>
              <a:t>https://datahelpdesk.worldbank.org/knowledgebase/articles/889392</a:t>
            </a:r>
          </a:p>
          <a:p xmlns:a="http://schemas.openxmlformats.org/drawingml/2006/main">
            <a:r>
              <a:t>https://data.who.int/products/data-description-schema</a:t>
            </a:r>
          </a:p>
          <a:p xmlns:a="http://schemas.openxmlformats.org/drawingml/2006/main">
            <a:r>
              <a:t>https://www.statista.com/getting-started/more-statista-services-what-is-statista-connect</a:t>
            </a:r>
          </a:p>
          <a:p xmlns:a="http://schemas.openxmlformats.org/drawingml/2006/main">
            <a:r>
              <a:t>https://api-cepalstat.cepal.org/apispec_1.json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outputs/aeo-comparative-matrix-2026-08-22.csv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outputs/aeo-agent-readiness-data.worldbank.org-2026-08-22.md</a:t>
            </a:r>
          </a:p>
          <a:p xmlns:a="http://schemas.openxmlformats.org/drawingml/2006/main">
            <a:r>
              <a:t>outputs/aeo-agent-readiness-data.who.int-2026-08-22.md</a:t>
            </a:r>
          </a:p>
          <a:p xmlns:a="http://schemas.openxmlformats.org/drawingml/2006/main">
            <a:r>
              <a:t>https://datahelpdesk.worldbank.org/knowledgebase/articles/898581-api-basic-call-structures</a:t>
            </a:r>
          </a:p>
          <a:p xmlns:a="http://schemas.openxmlformats.org/drawingml/2006/main">
            <a:r>
              <a:t>https://data.who.int/products/data-description-schema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outputs/aeo-agent-readiness-www.statista.com-2026-08-22.md</a:t>
            </a:r>
          </a:p>
          <a:p xmlns:a="http://schemas.openxmlformats.org/drawingml/2006/main">
            <a:r>
              <a:t>outputs/auditoria-aeo-agent-readiness-cepalstat-2026-08-20.md</a:t>
            </a:r>
          </a:p>
          <a:p xmlns:a="http://schemas.openxmlformats.org/drawingml/2006/main">
            <a:r>
              <a:t>https://www.statista.com/getting-started/more-statista-services-what-is-statista-connect</a:t>
            </a:r>
          </a:p>
          <a:p xmlns:a="http://schemas.openxmlformats.org/drawingml/2006/main">
            <a:r>
              <a:t>https://api-cepalstat.cepal.org/apispec_1.json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outputs/aeo-comparative-report-2026-08-22.md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outputs/aeo-referral-pilot-2026-08-22.csv</a:t>
            </a:r>
          </a:p>
          <a:p xmlns:a="http://schemas.openxmlformats.org/drawingml/2006/main">
            <a:r>
              <a:t>outputs/aeo-referral-pilot-analysis-2026-08-22.py</a:t>
            </a:r>
          </a:p>
          <a:p xmlns:a="http://schemas.openxmlformats.org/drawingml/2006/main">
            <a:r>
              <a:t>https://data.worldbank.org/indicator/SP.POP.TOTL</a:t>
            </a:r>
          </a:p>
          <a:p xmlns:a="http://schemas.openxmlformats.org/drawingml/2006/main">
            <a:r>
              <a:t>https://data.who.int/indicators/i/E3CAF2B/2322814</a:t>
            </a:r>
          </a:p>
          <a:p xmlns:a="http://schemas.openxmlformats.org/drawingml/2006/main">
            <a:r>
              <a:t>https://statistics.cepal.org/portal/cepalstat/dashboard.html?area_id=930&amp;indicator_id=5554&amp;lang=en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outputs/aeo-comparative-report-2026-08-22.md</a:t>
            </a:r>
          </a:p>
          <a:p xmlns:a="http://schemas.openxmlformats.org/drawingml/2006/main">
            <a:r>
              <a:t>outputs/aeo-referral-pilot-analysis-2026-08-22.py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outputs/aeo-agent-readiness-data.worldbank.org-2026-08-22.md</a:t>
            </a:r>
          </a:p>
          <a:p xmlns:a="http://schemas.openxmlformats.org/drawingml/2006/main">
            <a:r>
              <a:t>outputs/aeo-agent-readiness-data.who.int-2026-08-22.md</a:t>
            </a:r>
          </a:p>
          <a:p xmlns:a="http://schemas.openxmlformats.org/drawingml/2006/main">
            <a:r>
              <a:t>outputs/aeo-agent-readiness-www.statista.com-2026-08-22.md</a:t>
            </a:r>
          </a:p>
          <a:p xmlns:a="http://schemas.openxmlformats.org/drawingml/2006/main">
            <a:r>
              <a:t>outputs/auditoria-aeo-agent-readiness-cepalstat-2026-08-20.md</a:t>
            </a:r>
          </a:p>
          <a:p xmlns:a="http://schemas.openxmlformats.org/drawingml/2006/main">
            <a:r>
              <a:t>https://www.rfc-editor.org/rfc/rfc9309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c312c7a6047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b83bb169384bf8" /><Relationship Type="http://schemas.openxmlformats.org/officeDocument/2006/relationships/slideLayout" Target="/ppt/slideLayouts/slideLayout1.xml" Id="Rf32af7233d9642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2af7233d9642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6db78bd8a46ee" /><Relationship Type="http://schemas.openxmlformats.org/officeDocument/2006/relationships/notesSlide" Target="/ppt/notesSlides/notesSlide1.xml" Id="Rf93a7cd491d14c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8909c70024d63" /><Relationship Type="http://schemas.openxmlformats.org/officeDocument/2006/relationships/notesSlide" Target="/ppt/notesSlides/notesSlide2.xml" Id="R5e3c9ead0eb247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037493efa4f98" /><Relationship Type="http://schemas.openxmlformats.org/officeDocument/2006/relationships/chart" Target="/ppt/slides/charts/chart1.xml" Id="Rdb201cb2cef642d2" /><Relationship Type="http://schemas.openxmlformats.org/officeDocument/2006/relationships/notesSlide" Target="/ppt/notesSlides/notesSlide3.xml" Id="R7c1ef16dcdcb43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5ed68f7bb4762" /><Relationship Type="http://schemas.openxmlformats.org/officeDocument/2006/relationships/notesSlide" Target="/ppt/notesSlides/notesSlide4.xml" Id="R25e20f47c2d842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6f1efc259488b" /><Relationship Type="http://schemas.openxmlformats.org/officeDocument/2006/relationships/notesSlide" Target="/ppt/notesSlides/notesSlide5.xml" Id="R126cc83a530948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7512f2b314408" /><Relationship Type="http://schemas.openxmlformats.org/officeDocument/2006/relationships/notesSlide" Target="/ppt/notesSlides/notesSlide6.xml" Id="R2aa70b7504fe4d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e113aa09a470c" /><Relationship Type="http://schemas.openxmlformats.org/officeDocument/2006/relationships/notesSlide" Target="/ppt/notesSlides/notesSlide7.xml" Id="R102d71a92c8541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fe1b6a86b47eb" /><Relationship Type="http://schemas.openxmlformats.org/officeDocument/2006/relationships/chart" Target="/ppt/slides/charts/chart2.xml" Id="R254a3df943b64a22" /><Relationship Type="http://schemas.openxmlformats.org/officeDocument/2006/relationships/notesSlide" Target="/ppt/notesSlides/notesSlide8.xml" Id="R9b7dd081832a4f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e8c3fd7094f9d" /><Relationship Type="http://schemas.openxmlformats.org/officeDocument/2006/relationships/notesSlide" Target="/ppt/notesSlides/notesSlide9.xml" Id="R0dc3a1ca722e4a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53c1ee24b4eb1" /><Relationship Type="http://schemas.openxmlformats.org/officeDocument/2006/relationships/notesSlide" Target="/ppt/notesSlides/notesSlide10.xml" Id="R2f1af11d16824ce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Integral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Banco Mundial</c:v>
              </c:pt>
              <c:pt idx="1">
                <c:v>WHO Data</c:v>
              </c:pt>
              <c:pt idx="2">
                <c:v>Statista</c:v>
              </c:pt>
              <c:pt idx="3">
                <c:v>CEPALSTAT</c:v>
              </c:pt>
            </c:strLit>
          </c:cat>
          <c:val>
            <c:numLit>
              <c:formatCode>General</c:formatCode>
              <c:ptCount val="4"/>
              <c:pt idx="0">
                <c:v>77</c:v>
              </c:pt>
              <c:pt idx="1">
                <c:v>77</c:v>
              </c:pt>
              <c:pt idx="2">
                <c:v>60</c:v>
              </c:pt>
              <c:pt idx="3">
                <c:v>45</c:v>
              </c:pt>
            </c:numLit>
          </c:val>
        </c:ser>
        <c:ser>
          <c:idx val="1"/>
          <c:order val="1"/>
          <c:tx>
            <c:v>Núcleo comparable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Banco Mundial</c:v>
              </c:pt>
              <c:pt idx="1">
                <c:v>WHO Data</c:v>
              </c:pt>
              <c:pt idx="2">
                <c:v>Statista</c:v>
              </c:pt>
              <c:pt idx="3">
                <c:v>CEPALSTAT</c:v>
              </c:pt>
            </c:strLit>
          </c:cat>
          <c:val>
            <c:numLit>
              <c:formatCode>General</c:formatCode>
              <c:ptCount val="4"/>
              <c:pt idx="0">
                <c:v>90.9</c:v>
              </c:pt>
              <c:pt idx="1">
                <c:v>83.6</c:v>
              </c:pt>
              <c:pt idx="2">
                <c:v>65.5</c:v>
              </c:pt>
              <c:pt idx="3">
                <c:v>58.2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Exposición en top-10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Banco Mundial</c:v>
              </c:pt>
              <c:pt idx="1">
                <c:v>WHO Data</c:v>
              </c:pt>
              <c:pt idx="2">
                <c:v>Statista</c:v>
              </c:pt>
              <c:pt idx="3">
                <c:v>CEPALSTAT</c:v>
              </c:pt>
            </c:strLit>
          </c:cat>
          <c:val>
            <c:numLit>
              <c:formatCode>General</c:formatCode>
              <c:ptCount val="4"/>
              <c:pt idx="0">
                <c:v>87.5</c:v>
              </c:pt>
              <c:pt idx="1">
                <c:v>25</c:v>
              </c:pt>
              <c:pt idx="2">
                <c:v>0</c:v>
              </c:pt>
              <c:pt idx="3">
                <c:v>12.5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CB809-5F28-4994-8FC8-D6F1812F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"/>
            <a:ext cx="4933950" cy="5467350"/>
          </a:xfrm>
          <a:prstGeom xmlns:a="http://schemas.openxmlformats.org/drawingml/2006/main" prst="roundRect">
            <a:avLst>
              <a:gd name="adj" fmla="val 154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7E18A-BA73-40AB-8B5F-ACA7BC50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00100"/>
            <a:ext cx="417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1300F-3ED0-4AEB-9DAE-12D4B74F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AUDITORÍA COMPARADA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7037D-249A-46A0-8104-EEF9B076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AEO y preparación</a:t>
            </a:r>
          </a:p>
          <a:p xmlns:a="http://schemas.openxmlformats.org/drawingml/2006/main">
            <a:pPr algn="l">
              <a:defRPr sz="3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para agentes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5AC83-3020-4020-A18F-070562A4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Banco Mundial · WHO Data · Statista · CEPALSTAT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F4D21-5031-405D-B33A-0C646386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Seis dimensiones, evidencia primaria y un piloto de direccionamiento.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9A3C9-1157-4946-8A8D-AB33EABF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22 agosto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58196-9094-471E-BBFB-08C02FF6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79566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23F69A-9C65-47C5-B53E-FE3B9D50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LECTURA EJECUTIVA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216F5-2483-4A20-AE63-23185097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 preparación técnica no garantiza el direccionamiento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B8935-051A-4DFD-9652-0C250C82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EC888-4C97-4D50-A0A6-0C80265D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E40E8-196B-4516-8763-EAB69F46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AEO / AI readiness · 22 agosto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F96B8-465A-4478-B1ED-6D075DAF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El Banco Mundial y WHO Data lideran el puntaje integral; el piloto de búsqueda favorece al Banco Mundial por cobertura y ajuste a consultas generalistas.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03292-3A0E-4363-914E-9C3F6EF7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35623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8DCCE-E2BF-4402-891C-F6F3E52D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77/100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A12D2-2145-4F8A-A4AA-4ED7997D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Banco Mundial y WHO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99B28-1E8B-4DB5-ADB1-366D9865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62200"/>
            <a:ext cx="35623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4941C-73D0-45D5-8AB6-93364873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60/100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8EEFD-91C8-42CB-A48F-4AFA6305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671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Statista: citabilidad con acceso restringido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97496-DCC8-4268-9F6E-EBCFE9BA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62200"/>
            <a:ext cx="35623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FB210-FAA4-490B-A7C1-7DB0DD8D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45/100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DF1B3-76DF-4C8E-8417-C2E0A1EE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671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CEPALSTAT: API fuerte, capa web frágil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9EE77-6A95-4B65-9749-7A8AD3EE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94049-60B0-4120-BBAC-21300498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12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Fortaleza transversal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FD8D6D-8106-4D9C-8840-467B9F62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12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Las cuatro páginas tienen una vía de datos o metadatos que puede servir a un agente.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14AE8-188B-40B6-BAEF-C183B41D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A6B737-8D60-403A-9C8E-25A64016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62500"/>
            <a:ext cx="512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Brecha transversal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8EE5C-C9A1-4459-8ECE-8BD3E992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512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Las observaciones exactas siguen siendo menos descubribles que las definiciones y las portadas.</a:t>
            </a:r>
          </a:p>
        </p:txBody>
      </p:sp>
    </p:spTree>
    <p:extLst>
      <p:ext uri="{BB962C8B-B14F-4D97-AF65-F5344CB8AC3E}">
        <p14:creationId xmlns:p14="http://schemas.microsoft.com/office/powerpoint/2010/main" val="8031753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F1ABD-60AC-4915-A457-3B60869D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PUNTAJES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D4CAC-F652-4DE0-A10A-BCDF0768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El ranking cambia cuando se iguala la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860E1-A4EA-4250-AA99-7EA29FD5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07EBB-F3B7-462C-92EE-EB7143B4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B7292-BF9B-42F5-ADCD-0B1D5614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AEO / AI readiness · 22 agosto 2026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00050" y="1352550"/>
          <a:ext xmlns:a="http://schemas.openxmlformats.org/drawingml/2006/main" cx="63817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201cb2cef642d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722FB-22D7-4D8C-B3DC-1C843DEB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19250"/>
            <a:ext cx="42862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E5F9C-0181-4B6F-9736-3EED1828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43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Qué significa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F4AF5-59C7-4F92-8C66-6DF0ED65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574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El núcleo comparable conserva solo descubrimiento, API y citabilidad —las dimensiones que sí pudimos observar de forma más uniforme.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7D0CC-F4F8-4F6C-B3F0-5CC98F42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766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72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World Bank sube a 90,9 por su API y URLs reproducibles. CEPALSTAT sube, pero permanece último: su problema central es la conexión entre descubrimiento web y dato observable.</a:t>
            </a:r>
          </a:p>
        </p:txBody>
      </p:sp>
    </p:spTree>
    <p:extLst>
      <p:ext uri="{BB962C8B-B14F-4D97-AF65-F5344CB8AC3E}">
        <p14:creationId xmlns:p14="http://schemas.microsoft.com/office/powerpoint/2010/main" val="12256366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680DFE8-5BE0-4E6F-AA1E-14868983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DIMENSIONES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288A5-1A0F-4EB4-ADEA-36A53118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901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 API es la ventaja más consistente; el descubrimiento es la brecha más desigual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14EFE-3965-4B60-AB7D-E0317CD3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653E9-60C8-45CC-82E1-2681922E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EC468-1E75-4400-9E3D-CA1FBB3F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AEO / AI readiness · 22 agosto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D64B1-AC59-4034-B708-8CDDA96A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Puntaje por dimensión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7615B-2407-485E-B16B-CCD34C5F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123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Banco Mundial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14E7E-3565-4710-BEAC-8A321F1A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123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WHO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567C5-9BE2-4939-A5FC-A09C2402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123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Statista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67E89-E5AE-4D42-965B-CD2FD88B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123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CEPALSTAT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95C12-5297-4A01-ABDF-26043880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63BFD-90EE-45E2-908A-3C418232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90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C296C-6847-4C06-A74B-3D320584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287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69824-DFA6-42C3-AE84-45B41257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62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7/10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D6C64-31A8-4797-B71E-86351AE9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4287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25C82-3717-4543-842E-F3A2F401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562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7/10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3E4BA-F418-4F14-AFA4-3D910AD4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287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6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3353A0-8D1A-4D8D-9A5D-B96842D9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62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4/10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78175-B999-4BFC-85C8-16236D59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287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6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86247-5D8E-42A3-B830-95ED48BA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62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3/10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D34250-4B9A-477E-AA7C-44123C38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56E830-D586-48BD-AA91-689C6DF2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19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Descubrimiento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CE5038-537E-45EB-9D8A-B879A2A2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574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ED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4CF62B-3219-4640-810A-457BBEC9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0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12/15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026F54-A6B0-4565-83C7-C6EE45C1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574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ED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73E34D-BA19-4625-A899-D8E2419F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90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12/15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C6D638-607D-494D-B490-DDCA5C35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574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BF5EB4-BD37-4122-BD6B-21B8B9C5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90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10/15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1AB81D-D849-4F4E-9B72-B8335FBC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574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6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9ABA33-D1C7-4727-B239-F6D5D119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2/15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D0AFE4-16AD-41D1-A486-1A78B0C2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B1F2AD-6184-42E5-9584-431763F1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Renderizado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2EB5D3-75E3-47FF-B397-E5148F95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860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5299DF-3483-4757-A28C-9A4B6E23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194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13/20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FE1768-F039-490F-AAC3-2BA82D27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860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ED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E47940-A324-46C2-A633-6A5F17FC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194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16/20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DBC738-030A-479C-A126-38C0989F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860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CC2183-035A-449C-9FCD-ED3B30BE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194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13/20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69FA06-A8E7-4354-8E63-174597E2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860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6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DF5205-A9FA-4DD0-8F7C-34EBE761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194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8/20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011216-4BEC-414C-9C42-BA3D8B0E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8251C9-6FFF-4D7A-B7BC-58D01E3A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Datos estructurados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CCFADE-9367-49FF-B4F4-E1D356BD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147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6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E2AB9C-867A-477E-875D-8B8D60B1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7/15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DE261D-A107-4678-AA57-6469B8DC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147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019040-4D4D-4AA1-B8C4-9E13AABD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8/15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618258-3B25-4EBA-802A-E0D7CF39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147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6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63C9C9-2BAF-4A1A-A1A9-488D724A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7/15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53501B-AF88-4EFE-B45D-C2A30EAC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147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6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837A7C-9848-456D-93BA-0E6B2EE1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2/15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F655A8-6DA5-4D33-A983-64E4739D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699B8F-64A3-4F9B-9BA0-FDFA3590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052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105BCC-E5A9-4464-AF11-2BCB0F8A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433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ED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FB7ACE-8812-4596-B914-EA89B22C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76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24/25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264207-4F9E-415C-A781-18B13951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433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ED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52C354-4BAB-4B6C-8498-08DBDEA7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76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21/25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BE65F5-5F88-4516-BFD5-F1D959A3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433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19CA33B-A0B5-48E3-B5F3-6DDB5928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76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14/25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69B184-5319-4CF3-8276-61201968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433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ED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ACC2E7D-6073-4C54-861D-4AC3638F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76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21/25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C1EC4EC-A856-4CAA-A134-364CB2F5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E0CB77-191F-4AE6-BF9E-99108B9C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339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Citabilidad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EB2867-19D3-40FF-9115-59D2D4A3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ED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D4415B8-6350-4ACE-A710-17DA20F4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05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14/15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E26F76B-F156-4204-A252-71C3C843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720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ED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E2045D-411A-4956-8BC8-CE6AF4FE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705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13/15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E1EDC1-FEA5-49F6-8F51-79B9070C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720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ED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227F338-0E5C-4C90-B48B-2AD32CE0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05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12/15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C1FA133-24A9-4501-80E1-89D52717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539FCFF-7661-4E50-9E93-8979B2F4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05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9/15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6604B3C-C2AD-423D-A9A9-AE88736D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Verde = fortaleza relativa · amarillo = funcional con brechas · rojo = fricción relevante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A9C6B02-8C52-4143-BB10-24A12A65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19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953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La lectura debe combinar puntaje con confianza de evidencia.</a:t>
            </a:r>
          </a:p>
        </p:txBody>
      </p:sp>
    </p:spTree>
    <p:extLst>
      <p:ext uri="{BB962C8B-B14F-4D97-AF65-F5344CB8AC3E}">
        <p14:creationId xmlns:p14="http://schemas.microsoft.com/office/powerpoint/2010/main" val="15224346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E9B12E-D603-422E-B419-BBCA1C8F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PORTALES PÚBLICOS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EBE9C-0527-4080-B83F-763AF9D4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Banco Mundial y WHO Data: dos caminos distintos hacia la citabilidad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69D62-A27B-4102-91B5-DCFF5455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69EF5-BB2F-4FAC-8B6D-E3C094A9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1074D-9F70-4CCF-B344-D925C0E9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AEO / AI readiness · 22 agosto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DA96B-2019-4E5F-B990-5D8FEFC9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51816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261F9-8A36-4B04-9588-87BE0E02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BANCO MUNDIAL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79F80-0D42-4E17-82FC-C026B112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Destacable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B1A27-171D-43C4-8F3F-1081CE6F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457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API v2 pública, sin clave, con JSON/JSON-stat/CSV/XML/Excel y filtros reproducibles.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148FF-F9D5-4641-9FEA-5EA68010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62245-9750-4F54-AA13-A79D068B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Mejora prioritaria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97E79-8696-4D74-9735-EA87A0FA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Hacer visibles los valores sin JavaScript; publicar política de crawlers y structured data verificable.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454DB-4CA9-4600-B71E-76593508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7800"/>
            <a:ext cx="51816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A8BD3-DB91-4897-9B44-683D1BFD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WHO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73461-6C71-4E40-8A7C-C9837D5F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Destacable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103F3-6F89-4393-A7B6-80858A43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28900"/>
            <a:ext cx="457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Fichas con identificador, unidad, cobertura, periodicidad, método, licencia y texto de cita.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8120A-6A9C-4921-865A-215A0B24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9F2FB-D4E0-4214-A464-7F2E1D48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Mejora prioritaria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50AF51-0077-434F-BB02-EC9003DD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Mapear cada indicador a un endpoint OData estable; aclarar sitemap, agentes IA y JSON-LD.</a:t>
            </a:r>
          </a:p>
        </p:txBody>
      </p:sp>
    </p:spTree>
    <p:extLst>
      <p:ext uri="{BB962C8B-B14F-4D97-AF65-F5344CB8AC3E}">
        <p14:creationId xmlns:p14="http://schemas.microsoft.com/office/powerpoint/2010/main" val="819776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18430A-6DD6-428D-9842-A8FB86F4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PORTALES CON FRICCIÓN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8074E-968F-4FF9-96F8-CE3AFF84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Statista y CEPALSTAT: citabilidad editorial frente a acceso programático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3692D-EE5A-4940-A01E-E047DBAD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E2F2C-61A3-4F04-990A-9C7FF609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2D72C-797F-4D3C-B703-52975B7B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AEO / AI readiness · 22 agosto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2B125-2C07-42D0-B595-4B318994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51816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5D8AC-BF2E-4A98-AE28-5E822400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STATISTA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98A358-13C5-405C-966F-238981DF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Destacable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006A8-244B-4443-9519-519E29A1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457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Las fichas públicas muestran fuente, período, fecha, autor y formatos de cita.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0FDC5-4431-4536-8FAE-B5ABE894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CBDF7-DA1F-4EA3-96C5-763F00BE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Mejora prioritaria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04522-ED68-4DBC-AB10-5A9C4D64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Paywall/registro y API autorizada reducen la llegada; ofrecer evidencia mínima pública y documentación OpenAPI de muestra.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E45F6-9378-42B5-9573-B6470AA1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7800"/>
            <a:ext cx="51816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4E2EB-57FD-48F4-83CF-BEA13AF1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CEPALSTAT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9EE25-80AA-495A-A252-54BB9B83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Destacable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55CB8-F843-4345-A1CF-282A70D8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28900"/>
            <a:ext cx="457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REST/OpenAPI público, metadatos de fuentes, notas y dimensiones.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651F7-5093-49C5-87D6-324D5779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940EA-0CF1-4662-9D9F-796500E5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Mejora prioritaria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A5C8FB-4524-4211-BB6F-C1632019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Sitemap, `llms.txt`, tablas HTML planas, URLs canónicas por indicador y reparación de OpenAPI.</a:t>
            </a:r>
          </a:p>
        </p:txBody>
      </p:sp>
    </p:spTree>
    <p:extLst>
      <p:ext uri="{BB962C8B-B14F-4D97-AF65-F5344CB8AC3E}">
        <p14:creationId xmlns:p14="http://schemas.microsoft.com/office/powerpoint/2010/main" val="10758016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8EB3C-748A-4E26-A604-44102812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HOJA DE RUTA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AE641-259A-4C22-88ED-C40A8C62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Las mejoras prioritarias son repetibles entre portales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D3894-ACD1-4DD4-B2B5-28033E61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FA2D1-0A42-48E1-9EA3-3B49250C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D3C95-6BB6-437B-AAF7-B19A5189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AEO / AI readiness · 22 agosto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374EA-A2F6-415F-AEF3-AC024170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04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754DB-39CD-4912-9A48-C3BF5D0D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4B7AA-CE29-4FC0-BF27-0C554F4D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19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Hacer descubrible el acceso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6A8CE-DF5F-462B-BCD7-0896763F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002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robots.txt accesible, sitemap declarado, enlaces directos a datos y política clara para crawlers 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9B545-EB04-4C30-8E65-43CA1DDD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48466-5A6C-492A-ACDF-26B31308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1104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FA4EB-7CEA-4E30-A36B-6BAEDC63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0F0C2-5EDD-4B67-9C3A-02ADCCFD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71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Hacer citable la observación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C528A-DE68-42E9-9201-CE5A4B80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528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Dataset/JSON-LD, tabla HTML inicial, unidad-período-geografía visibles y URL canónica por indicador.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0200B-D779-4EE3-BACB-2C053E13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EF498-1BE4-47FA-BA4E-9683BDD3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1104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4A86BB-D247-448A-B36B-FDD7FEA8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84101-2C01-441F-9670-BA99B7BA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24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Hacerlo reproducible a escala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03134-C118-450C-80D1-E69CF46B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7053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OpenAPI validado, versionado, identificadores persistentes, checksums, monitoreo y pruebas de paridad.</a:t>
            </a:r>
          </a:p>
        </p:txBody>
      </p:sp>
    </p:spTree>
    <p:extLst>
      <p:ext uri="{BB962C8B-B14F-4D97-AF65-F5344CB8AC3E}">
        <p14:creationId xmlns:p14="http://schemas.microsoft.com/office/powerpoint/2010/main" val="17883413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C5521-AC9B-47BB-8C11-E3D46B7D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DIRECCIONAMIENTO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20BB4-1B70-44E5-B1FE-C8971189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El piloto sugiere relación, pero también revela un fuerte efecto de 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5D8FE-F5B7-49B7-AB16-40F11BA0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A6227-3165-4DD6-808E-B7386FE8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56548-22CA-4CFC-A097-B4E17194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AEO / AI readiness · 22 agosto 2026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0050" y="1524000"/>
          <a:ext xmlns:a="http://schemas.openxmlformats.org/drawingml/2006/main" cx="6191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4a3df943b64a2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68BE1-7F6B-4759-A867-9EBDC957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38300"/>
            <a:ext cx="44196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EA872-0973-42C8-9D16-35653D48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812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Resultado estadístico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BD997-22B3-46D1-8E59-9E3D91C4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361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rho = 0,80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2198E-464D-451F-9C41-4796C0F5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813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n = 4 portales · 8 consultas neutrales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D00FA-47F2-4608-B835-79BCE62F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9570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88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El Banco Mundial domina las consultas generalistas. WHO aparece en salud; CEPALSTAT en América Latina; Statista no aparece en este banco de estadísticas oficiales.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FD044-86EA-42C8-AB04-4EFBE2A8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Lectura correcta: señal descriptiva, no causalidad.</a:t>
            </a:r>
          </a:p>
        </p:txBody>
      </p:sp>
    </p:spTree>
    <p:extLst>
      <p:ext uri="{BB962C8B-B14F-4D97-AF65-F5344CB8AC3E}">
        <p14:creationId xmlns:p14="http://schemas.microsoft.com/office/powerpoint/2010/main" val="3595321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98808-149F-4DBF-AE01-781CD25E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LECTURA METODOLÓGICA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59AD6-5917-4E8F-9482-FB1C558E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 conclusión es accionable, pero debe conservar sus límites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9FFDB-193A-416A-AD87-0EAFE86A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A327D-E5EA-491F-B5BD-D504E69A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76DE5-03CF-4D1F-95A7-86D4E33F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AEO / AI readiness · 22 agosto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9D869-9652-4065-83E3-3A85346C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31D89-6FA0-4A78-A3E3-9BC90A2F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12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Puntaje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30BFB-9423-4D74-AB9C-C34D4DD1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12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El puntaje integral sigue la rúbrica de seis dimensiones. El núcleo comparable excluye bots, DOM y JSON-LD para igualar la evidencia.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144FE-08D5-4D9C-85FD-63C462CB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5D658-E8A5-4126-AECC-FED24A25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12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Entorno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7B11C-7D65-4897-A620-59DBBF5E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2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El navegador interactivo local falló por cifrado de Windows; no se convirtió ese fallo en una penalización del sitio.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0EB63-A719-4E3C-8054-0BBAA853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BED6E-E3CA-4291-899D-F3305009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512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Direccionamiento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D27B2-D18E-447D-95C9-E87035FD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12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La búsqueda web funciona como proxy de descubrimiento. El piloto debe ampliarse con más consultas, agentes y un panel mayor para inferencia.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3452E-25CA-4ACE-96AC-3874E4C7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81150"/>
            <a:ext cx="50101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6482D-62EF-4731-8BD9-EC60F801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431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Siguiente fase recomendada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692D9-0B05-4F3D-9A68-5B3BDBD8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5745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1. Separar readiness técnico de apertura comercial.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2. Igualar el paquete mínimo por portal (home, catálogo, indicador, API).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3. Repetir con 40–60 consultas estratificadas y 3 agentes navegadores.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4. Recalcular con controles por tema, autoridad y paywall; reportar IC.</a:t>
            </a:r>
          </a:p>
        </p:txBody>
      </p:sp>
    </p:spTree>
    <p:extLst>
      <p:ext uri="{BB962C8B-B14F-4D97-AF65-F5344CB8AC3E}">
        <p14:creationId xmlns:p14="http://schemas.microsoft.com/office/powerpoint/2010/main" val="2831287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1EE26-2539-4FC5-9667-920EB90E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1ECD0-CBAA-4AA0-8D05-E7D51754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Método y fuentes primarias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8F76F-172F-472D-8E8D-E33461BF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5E896-C9C2-4AB1-8694-C8181E11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CE77C-B0BF-45A3-B6D3-34092493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AEO / AI readiness · 22 agosto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4FC49-8823-4237-84F9-351465EB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Seis dimensiones ponderadas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7B393-7BBF-4F71-B970-3B945E94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Bots 10 · Descubrimiento 15 · Renderizado 20</a:t>
            </a:r>
          </a:p>
          <a:p xmlns:a="http://schemas.openxmlformats.org/drawingml/2006/main">
            <a:pPr algn="l">
              <a:defRPr sz="1575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Datos estructurados 15 · API 25 · Citabilidad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5B020-9D1F-47CB-8567-AE41B10F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Evidencia y entregables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02BE0-AED0-438D-9610-7C9D1C58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Tres informes AEO fechados por subagentes especializados · revisión adversarial · informe base CEPALSTAT · matriz comparativa · CSV y script del piloto · notebook no ejecutado por falta de Jupyter en el entorno.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CA4AD-DEB6-4AF9-8001-3D3ABDCE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90650"/>
            <a:ext cx="53721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C174B-0615-4C9F-AF26-C712FFBC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954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Fuentes primarias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CB935-E7E7-4D27-B0F8-9C0764CB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World Bank Data / API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data.who.int / Data Description Schema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Statista / Statista Connect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CEPALSTAT / OpenAPI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RFC 9309 — Robots Exclusion Protocol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D428D-A8EA-4D82-9B9D-95C01F12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243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Todos los informes y datos de apoyo quedan en outputs/.</a:t>
            </a:r>
          </a:p>
        </p:txBody>
      </p:sp>
    </p:spTree>
    <p:extLst>
      <p:ext uri="{BB962C8B-B14F-4D97-AF65-F5344CB8AC3E}">
        <p14:creationId xmlns:p14="http://schemas.microsoft.com/office/powerpoint/2010/main" val="1885118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2026-08-22T17:22:59.2790000Z</dcterms:created>
  <dcterms:modified xsi:type="dcterms:W3CDTF">2026-08-22T17:22:59.2790000Z</dcterms:modified>
</coreProperties>
</file>